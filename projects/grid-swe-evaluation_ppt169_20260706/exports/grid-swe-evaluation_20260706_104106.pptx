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这一页的结论是，这个 Grid case 不是一个普通示例工程，而是一道完整的 SWE 评测题。左侧列出了题目的核心资产：task 是基础工程，README 提供给 Agent 的提示词，golden patch 是参考实现，test patch 是评测测试，metadata 则定义 fail to pass 和 pass to pass 的测试分组。右侧是 Agent 必须实现的断点目标：小屏保持两列和原始尺寸，中屏扩展到三列，大屏扩展到五列，并同步调整间距和商品图片尺寸。底部强调测试设计的关键：fail to pass 负责暴露多设备适配缺口，pass to pass 负责保护已有页面行为不被破坏。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这一页的结论是，完整评测闭环同时验证题目可信度和 Agent 产物质量。第一步把 task、golden patch 和 test patch 合在一起跑，确认参考实现可以通过全部测试。第二步只合入 task 和 test patch，确认基线工程确实会暴露 fail to pass，同时 pass to pass 仍然成功。第三步把 task 作为基础工程，把 README 里的提示词交给 Agent 生成 implement patch。第四步把 implement patch 和 test patch 合入 task，使用同一套测试判断 Agent 是否修好。最后一步比较 implement patch 和 golden patch，重点看是否真的引入断点体系、是否用断点驱动 Grid 列数、间距和图片尺寸，以及有没有绕过测试或破坏原功能。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1049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85725" cy="6858000"/>
            </a:xfrm>
            <a:prstGeom prst="rect">
              <a:avLst/>
            </a:prstGeom>
            <a:solidFill>
              <a:srgbClr val="C7000A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14350" y="359092"/>
            <a:ext cx="11403335" cy="691039"/>
            <a:chOff x="514350" y="359092"/>
            <a:chExt cx="11403335" cy="691039"/>
          </a:xfrm>
        </p:grpSpPr>
        <p:sp>
          <p:nvSpPr>
            <p:cNvPr id="6" name="Rectangle 6"/>
            <p:cNvSpPr/>
            <p:nvPr/>
          </p:nvSpPr>
          <p:spPr>
            <a:xfrm>
              <a:off x="514350" y="400050"/>
              <a:ext cx="76200" cy="419100"/>
            </a:xfrm>
            <a:prstGeom prst="roundRect">
              <a:avLst>
                <a:gd name="adj" fmla="val 50000"/>
              </a:avLst>
            </a:prstGeom>
            <a:solidFill>
              <a:srgbClr val="C7000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06755" y="359092"/>
              <a:ext cx="893129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Grid case 把多设备适配压缩成一道可验证 SWE 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821531"/>
              <a:ext cx="75220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ResponsiveGridLayout / CaseResponsiveRepeatGridLayout · derive_base · HarmonyOS 一多 Grid 重复布局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696450" y="419100"/>
              <a:ext cx="1866900" cy="361950"/>
            </a:xfrm>
            <a:prstGeom prst="roundRect">
              <a:avLst>
                <a:gd name="adj" fmla="val 21053"/>
              </a:avLst>
            </a:prstGeom>
            <a:solidFill>
              <a:srgbClr val="FFFFFF"/>
            </a:solidFill>
            <a:ln w="14288">
              <a:solidFill>
                <a:srgbClr val="EBEBEB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880600" y="536575"/>
              <a:ext cx="127000" cy="127000"/>
              <a:chOff x="9880600" y="536575"/>
              <a:chExt cx="127000" cy="127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880600" y="5365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7937"/>
                    </a:moveTo>
                    <a:cubicBezTo>
                      <a:pt x="0" y="3554"/>
                      <a:pt x="3554" y="0"/>
                      <a:pt x="7938" y="0"/>
                    </a:cubicBezTo>
                    <a:lnTo>
                      <a:pt x="39688" y="0"/>
                    </a:lnTo>
                    <a:cubicBezTo>
                      <a:pt x="44071" y="0"/>
                      <a:pt x="47625" y="3554"/>
                      <a:pt x="47625" y="7937"/>
                    </a:cubicBezTo>
                    <a:lnTo>
                      <a:pt x="47625" y="39687"/>
                    </a:lnTo>
                    <a:cubicBezTo>
                      <a:pt x="47625" y="44071"/>
                      <a:pt x="44071" y="47625"/>
                      <a:pt x="39688" y="47625"/>
                    </a:cubicBezTo>
                    <a:lnTo>
                      <a:pt x="7938" y="47625"/>
                    </a:lnTo>
                    <a:cubicBezTo>
                      <a:pt x="3554" y="47625"/>
                      <a:pt x="0" y="44071"/>
                      <a:pt x="0" y="39687"/>
                    </a:cubicBezTo>
                    <a:lnTo>
                      <a:pt x="0" y="7937"/>
                    </a:ln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959975" y="5365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7937"/>
                    </a:moveTo>
                    <a:cubicBezTo>
                      <a:pt x="0" y="3554"/>
                      <a:pt x="3554" y="0"/>
                      <a:pt x="7937" y="0"/>
                    </a:cubicBezTo>
                    <a:lnTo>
                      <a:pt x="39687" y="0"/>
                    </a:lnTo>
                    <a:cubicBezTo>
                      <a:pt x="44071" y="0"/>
                      <a:pt x="47625" y="3554"/>
                      <a:pt x="47625" y="7937"/>
                    </a:cubicBezTo>
                    <a:lnTo>
                      <a:pt x="47625" y="39687"/>
                    </a:lnTo>
                    <a:cubicBezTo>
                      <a:pt x="47625" y="44071"/>
                      <a:pt x="44071" y="47625"/>
                      <a:pt x="39687" y="47625"/>
                    </a:cubicBezTo>
                    <a:lnTo>
                      <a:pt x="7937" y="47625"/>
                    </a:lnTo>
                    <a:cubicBezTo>
                      <a:pt x="3554" y="47625"/>
                      <a:pt x="0" y="44071"/>
                      <a:pt x="0" y="39687"/>
                    </a:cubicBezTo>
                    <a:lnTo>
                      <a:pt x="0" y="7937"/>
                    </a:ln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880600" y="6159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7937"/>
                    </a:moveTo>
                    <a:cubicBezTo>
                      <a:pt x="0" y="3554"/>
                      <a:pt x="3554" y="0"/>
                      <a:pt x="7938" y="0"/>
                    </a:cubicBezTo>
                    <a:lnTo>
                      <a:pt x="39688" y="0"/>
                    </a:lnTo>
                    <a:cubicBezTo>
                      <a:pt x="44071" y="0"/>
                      <a:pt x="47625" y="3554"/>
                      <a:pt x="47625" y="7937"/>
                    </a:cubicBezTo>
                    <a:lnTo>
                      <a:pt x="47625" y="39687"/>
                    </a:lnTo>
                    <a:cubicBezTo>
                      <a:pt x="47625" y="44071"/>
                      <a:pt x="44071" y="47625"/>
                      <a:pt x="39688" y="47625"/>
                    </a:cubicBezTo>
                    <a:lnTo>
                      <a:pt x="7938" y="47625"/>
                    </a:lnTo>
                    <a:cubicBezTo>
                      <a:pt x="3554" y="47625"/>
                      <a:pt x="0" y="44071"/>
                      <a:pt x="0" y="39687"/>
                    </a:cubicBezTo>
                    <a:lnTo>
                      <a:pt x="0" y="7937"/>
                    </a:ln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959975" y="6159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7937"/>
                    </a:moveTo>
                    <a:cubicBezTo>
                      <a:pt x="0" y="3554"/>
                      <a:pt x="3554" y="0"/>
                      <a:pt x="7937" y="0"/>
                    </a:cubicBezTo>
                    <a:lnTo>
                      <a:pt x="39687" y="0"/>
                    </a:lnTo>
                    <a:cubicBezTo>
                      <a:pt x="44071" y="0"/>
                      <a:pt x="47625" y="3554"/>
                      <a:pt x="47625" y="7937"/>
                    </a:cubicBezTo>
                    <a:lnTo>
                      <a:pt x="47625" y="39687"/>
                    </a:lnTo>
                    <a:cubicBezTo>
                      <a:pt x="47625" y="44071"/>
                      <a:pt x="44071" y="47625"/>
                      <a:pt x="39687" y="47625"/>
                    </a:cubicBezTo>
                    <a:lnTo>
                      <a:pt x="7937" y="47625"/>
                    </a:lnTo>
                    <a:cubicBezTo>
                      <a:pt x="3554" y="47625"/>
                      <a:pt x="0" y="44071"/>
                      <a:pt x="0" y="39687"/>
                    </a:cubicBezTo>
                    <a:lnTo>
                      <a:pt x="0" y="7937"/>
                    </a:ln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101262" y="526256"/>
              <a:ext cx="18164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32323"/>
                  </a:solidFill>
                  <a:latin typeface="Consolas"/>
                  <a:ea typeface="Microsoft YaHei"/>
                  <a:cs typeface="Consolas"/>
                </a:rPr>
                <a:t>responsive-grid-layout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48640" y="1291590"/>
            <a:ext cx="3623310" cy="3699510"/>
            <a:chOff x="548640" y="1291590"/>
            <a:chExt cx="3623310" cy="3699510"/>
          </a:xfrm>
        </p:grpSpPr>
        <p:sp>
          <p:nvSpPr>
            <p:cNvPr id="17" name="TextBox 17"/>
            <p:cNvSpPr txBox="1"/>
            <p:nvPr/>
          </p:nvSpPr>
          <p:spPr>
            <a:xfrm>
              <a:off x="548640" y="12915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32323"/>
                  </a:solidFill>
                  <a:latin typeface="Arial"/>
                  <a:ea typeface="Microsoft YaHei"/>
                  <a:cs typeface="Arial"/>
                </a:rPr>
                <a:t>题目资产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7212" y="1612106"/>
              <a:ext cx="33289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目录内已经包含从基础工程到测试定义的完整材料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" y="1943100"/>
              <a:ext cx="3600450" cy="3048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4288">
              <a:solidFill>
                <a:srgbClr val="EBEBEB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" y="1943100"/>
              <a:ext cx="3600450" cy="419100"/>
            </a:xfrm>
            <a:prstGeom prst="roundRect">
              <a:avLst>
                <a:gd name="adj" fmla="val 18182"/>
              </a:avLst>
            </a:prstGeom>
            <a:solidFill>
              <a:srgbClr val="C7000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5810" y="2089785"/>
              <a:ext cx="28112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CaseResponsiveRepeatGridLayout/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781050" y="2597944"/>
              <a:ext cx="3181350" cy="326231"/>
              <a:chOff x="781050" y="2597944"/>
              <a:chExt cx="3181350" cy="326231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843756" y="2597944"/>
                <a:ext cx="122238" cy="157162"/>
                <a:chOff x="843756" y="2597944"/>
                <a:chExt cx="122238" cy="157162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922338" y="2597944"/>
                  <a:ext cx="43656" cy="43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56" h="43656">
                      <a:moveTo>
                        <a:pt x="0" y="0"/>
                      </a:moveTo>
                      <a:lnTo>
                        <a:pt x="0" y="34925"/>
                      </a:lnTo>
                      <a:cubicBezTo>
                        <a:pt x="0" y="39747"/>
                        <a:pt x="3909" y="43656"/>
                        <a:pt x="8731" y="43656"/>
                      </a:cubicBezTo>
                      <a:lnTo>
                        <a:pt x="43656" y="43656"/>
                      </a:ln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843756" y="2597944"/>
                  <a:ext cx="122237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57162">
                      <a:moveTo>
                        <a:pt x="104775" y="157162"/>
                      </a:moveTo>
                      <a:lnTo>
                        <a:pt x="17463" y="157162"/>
                      </a:lnTo>
                      <a:cubicBezTo>
                        <a:pt x="7818" y="157162"/>
                        <a:pt x="0" y="149344"/>
                        <a:pt x="0" y="139700"/>
                      </a:cubicBezTo>
                      <a:lnTo>
                        <a:pt x="0" y="17462"/>
                      </a:lnTo>
                      <a:cubicBezTo>
                        <a:pt x="0" y="7818"/>
                        <a:pt x="7818" y="0"/>
                        <a:pt x="17463" y="0"/>
                      </a:cubicBezTo>
                      <a:lnTo>
                        <a:pt x="78581" y="0"/>
                      </a:lnTo>
                      <a:lnTo>
                        <a:pt x="122237" y="43656"/>
                      </a:lnTo>
                      <a:lnTo>
                        <a:pt x="122237" y="139700"/>
                      </a:lnTo>
                      <a:cubicBezTo>
                        <a:pt x="122237" y="149344"/>
                        <a:pt x="114419" y="157162"/>
                        <a:pt x="104775" y="157162"/>
                      </a:cubicBez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878681" y="2685256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8731" y="0"/>
                      </a:moveTo>
                      <a:lnTo>
                        <a:pt x="0" y="17462"/>
                      </a:lnTo>
                      <a:lnTo>
                        <a:pt x="8731" y="34925"/>
                      </a:ln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922338" y="2685256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0" y="0"/>
                      </a:moveTo>
                      <a:lnTo>
                        <a:pt x="8731" y="17462"/>
                      </a:lnTo>
                      <a:lnTo>
                        <a:pt x="0" y="34925"/>
                      </a:ln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089660" y="2604135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1D1A"/>
                    </a:solidFill>
                    <a:latin typeface="Consolas"/>
                    <a:ea typeface="Microsoft YaHei"/>
                    <a:cs typeface="Consolas"/>
                  </a:rPr>
                  <a:t>task/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795462" y="2612231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待适配的基础工程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781050" y="2914650"/>
                <a:ext cx="3181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81350" h="9525">
                    <a:moveTo>
                      <a:pt x="0" y="0"/>
                    </a:moveTo>
                    <a:lnTo>
                      <a:pt x="3181350" y="0"/>
                    </a:lnTo>
                  </a:path>
                </a:pathLst>
              </a:custGeom>
              <a:noFill/>
              <a:ln w="9525">
                <a:solidFill>
                  <a:srgbClr val="EBEBEB"/>
                </a:solidFill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781050" y="3131344"/>
              <a:ext cx="3181350" cy="326231"/>
              <a:chOff x="781050" y="3131344"/>
              <a:chExt cx="3181350" cy="326231"/>
            </a:xfrm>
          </p:grpSpPr>
          <p:grpSp>
            <p:nvGrpSpPr>
              <p:cNvPr id="35" name="Group 35"/>
              <p:cNvGrpSpPr/>
              <p:nvPr/>
            </p:nvGrpSpPr>
            <p:grpSpPr>
              <a:xfrm>
                <a:off x="843756" y="3131344"/>
                <a:ext cx="122238" cy="157162"/>
                <a:chOff x="843756" y="3131344"/>
                <a:chExt cx="122238" cy="157162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922338" y="3131344"/>
                  <a:ext cx="43656" cy="43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56" h="43656">
                      <a:moveTo>
                        <a:pt x="0" y="0"/>
                      </a:moveTo>
                      <a:lnTo>
                        <a:pt x="0" y="34925"/>
                      </a:lnTo>
                      <a:cubicBezTo>
                        <a:pt x="0" y="39747"/>
                        <a:pt x="3909" y="43656"/>
                        <a:pt x="8731" y="43656"/>
                      </a:cubicBezTo>
                      <a:lnTo>
                        <a:pt x="43656" y="43656"/>
                      </a:ln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43756" y="3131344"/>
                  <a:ext cx="122237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57162">
                      <a:moveTo>
                        <a:pt x="104775" y="157162"/>
                      </a:moveTo>
                      <a:lnTo>
                        <a:pt x="17463" y="157162"/>
                      </a:lnTo>
                      <a:cubicBezTo>
                        <a:pt x="7818" y="157162"/>
                        <a:pt x="0" y="149344"/>
                        <a:pt x="0" y="139700"/>
                      </a:cubicBezTo>
                      <a:lnTo>
                        <a:pt x="0" y="17462"/>
                      </a:lnTo>
                      <a:cubicBezTo>
                        <a:pt x="0" y="7818"/>
                        <a:pt x="7818" y="0"/>
                        <a:pt x="17463" y="0"/>
                      </a:cubicBezTo>
                      <a:lnTo>
                        <a:pt x="78581" y="0"/>
                      </a:lnTo>
                      <a:lnTo>
                        <a:pt x="122237" y="43656"/>
                      </a:lnTo>
                      <a:lnTo>
                        <a:pt x="122237" y="139700"/>
                      </a:lnTo>
                      <a:cubicBezTo>
                        <a:pt x="122237" y="149344"/>
                        <a:pt x="114419" y="157162"/>
                        <a:pt x="104775" y="157162"/>
                      </a:cubicBez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78681" y="3218656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8731" y="0"/>
                      </a:moveTo>
                      <a:lnTo>
                        <a:pt x="0" y="17462"/>
                      </a:lnTo>
                      <a:lnTo>
                        <a:pt x="8731" y="34925"/>
                      </a:ln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922338" y="3218656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0" y="0"/>
                      </a:moveTo>
                      <a:lnTo>
                        <a:pt x="8731" y="17462"/>
                      </a:lnTo>
                      <a:lnTo>
                        <a:pt x="0" y="34925"/>
                      </a:ln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089660" y="3137535"/>
                <a:ext cx="9293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1D1A"/>
                    </a:solidFill>
                    <a:latin typeface="Consolas"/>
                    <a:ea typeface="Microsoft YaHei"/>
                    <a:cs typeface="Consolas"/>
                  </a:rPr>
                  <a:t>README.md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176462" y="3145631"/>
                <a:ext cx="89868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题目 prompt</a:t>
                </a:r>
              </a:p>
            </p:txBody>
          </p:sp>
          <p:sp>
            <p:nvSpPr>
              <p:cNvPr id="38" name="Line 38"/>
              <p:cNvSpPr/>
              <p:nvPr/>
            </p:nvSpPr>
            <p:spPr>
              <a:xfrm>
                <a:off x="781050" y="3448050"/>
                <a:ext cx="3181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81350" h="9525">
                    <a:moveTo>
                      <a:pt x="0" y="0"/>
                    </a:moveTo>
                    <a:lnTo>
                      <a:pt x="3181350" y="0"/>
                    </a:lnTo>
                  </a:path>
                </a:pathLst>
              </a:custGeom>
              <a:noFill/>
              <a:ln w="9525">
                <a:solidFill>
                  <a:srgbClr val="EBEBEB"/>
                </a:solidFill>
              </a:ln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781050" y="3664744"/>
              <a:ext cx="3181350" cy="326231"/>
              <a:chOff x="781050" y="3664744"/>
              <a:chExt cx="3181350" cy="326231"/>
            </a:xfrm>
          </p:grpSpPr>
          <p:grpSp>
            <p:nvGrpSpPr>
              <p:cNvPr id="44" name="Group 44"/>
              <p:cNvGrpSpPr/>
              <p:nvPr/>
            </p:nvGrpSpPr>
            <p:grpSpPr>
              <a:xfrm>
                <a:off x="843756" y="3664744"/>
                <a:ext cx="122238" cy="157162"/>
                <a:chOff x="843756" y="3664744"/>
                <a:chExt cx="122238" cy="157162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922338" y="3664744"/>
                  <a:ext cx="43656" cy="43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56" h="43656">
                      <a:moveTo>
                        <a:pt x="0" y="0"/>
                      </a:moveTo>
                      <a:lnTo>
                        <a:pt x="0" y="34925"/>
                      </a:lnTo>
                      <a:cubicBezTo>
                        <a:pt x="0" y="39747"/>
                        <a:pt x="3909" y="43656"/>
                        <a:pt x="8731" y="43656"/>
                      </a:cubicBezTo>
                      <a:lnTo>
                        <a:pt x="43656" y="43656"/>
                      </a:ln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843756" y="3664744"/>
                  <a:ext cx="122237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57162">
                      <a:moveTo>
                        <a:pt x="104775" y="157162"/>
                      </a:moveTo>
                      <a:lnTo>
                        <a:pt x="17463" y="157162"/>
                      </a:lnTo>
                      <a:cubicBezTo>
                        <a:pt x="7818" y="157162"/>
                        <a:pt x="0" y="149344"/>
                        <a:pt x="0" y="139700"/>
                      </a:cubicBezTo>
                      <a:lnTo>
                        <a:pt x="0" y="17462"/>
                      </a:lnTo>
                      <a:cubicBezTo>
                        <a:pt x="0" y="7818"/>
                        <a:pt x="7818" y="0"/>
                        <a:pt x="17463" y="0"/>
                      </a:cubicBezTo>
                      <a:lnTo>
                        <a:pt x="78581" y="0"/>
                      </a:lnTo>
                      <a:lnTo>
                        <a:pt x="122237" y="43656"/>
                      </a:lnTo>
                      <a:lnTo>
                        <a:pt x="122237" y="139700"/>
                      </a:lnTo>
                      <a:cubicBezTo>
                        <a:pt x="122237" y="149344"/>
                        <a:pt x="114419" y="157162"/>
                        <a:pt x="104775" y="157162"/>
                      </a:cubicBez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878681" y="3752056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8731" y="0"/>
                      </a:moveTo>
                      <a:lnTo>
                        <a:pt x="0" y="17462"/>
                      </a:lnTo>
                      <a:lnTo>
                        <a:pt x="8731" y="34925"/>
                      </a:ln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922338" y="3752056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0" y="0"/>
                      </a:moveTo>
                      <a:lnTo>
                        <a:pt x="8731" y="17462"/>
                      </a:lnTo>
                      <a:lnTo>
                        <a:pt x="0" y="34925"/>
                      </a:ln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1089660" y="3670935"/>
                <a:ext cx="165188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1D1A"/>
                    </a:solidFill>
                    <a:latin typeface="Consolas"/>
                    <a:ea typeface="Microsoft YaHei"/>
                    <a:cs typeface="Consolas"/>
                  </a:rPr>
                  <a:t>golden_patch.patch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2709862" y="3679031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参考实现</a:t>
                </a:r>
              </a:p>
            </p:txBody>
          </p:sp>
          <p:sp>
            <p:nvSpPr>
              <p:cNvPr id="47" name="Line 47"/>
              <p:cNvSpPr/>
              <p:nvPr/>
            </p:nvSpPr>
            <p:spPr>
              <a:xfrm>
                <a:off x="781050" y="3981450"/>
                <a:ext cx="3181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81350" h="9525">
                    <a:moveTo>
                      <a:pt x="0" y="0"/>
                    </a:moveTo>
                    <a:lnTo>
                      <a:pt x="3181350" y="0"/>
                    </a:lnTo>
                  </a:path>
                </a:pathLst>
              </a:custGeom>
              <a:noFill/>
              <a:ln w="9525">
                <a:solidFill>
                  <a:srgbClr val="EBEBEB"/>
                </a:solidFill>
              </a:ln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781050" y="4198144"/>
              <a:ext cx="3181350" cy="326231"/>
              <a:chOff x="781050" y="4198144"/>
              <a:chExt cx="3181350" cy="326231"/>
            </a:xfrm>
          </p:grpSpPr>
          <p:grpSp>
            <p:nvGrpSpPr>
              <p:cNvPr id="53" name="Group 53"/>
              <p:cNvGrpSpPr/>
              <p:nvPr/>
            </p:nvGrpSpPr>
            <p:grpSpPr>
              <a:xfrm>
                <a:off x="843756" y="4198144"/>
                <a:ext cx="122238" cy="157162"/>
                <a:chOff x="843756" y="4198144"/>
                <a:chExt cx="122238" cy="157162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922338" y="4198144"/>
                  <a:ext cx="43656" cy="43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56" h="43656">
                      <a:moveTo>
                        <a:pt x="0" y="0"/>
                      </a:moveTo>
                      <a:lnTo>
                        <a:pt x="0" y="34925"/>
                      </a:lnTo>
                      <a:cubicBezTo>
                        <a:pt x="0" y="39747"/>
                        <a:pt x="3909" y="43656"/>
                        <a:pt x="8731" y="43656"/>
                      </a:cubicBezTo>
                      <a:lnTo>
                        <a:pt x="43656" y="43656"/>
                      </a:ln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843756" y="4198144"/>
                  <a:ext cx="122237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57162">
                      <a:moveTo>
                        <a:pt x="104775" y="157162"/>
                      </a:moveTo>
                      <a:lnTo>
                        <a:pt x="17463" y="157162"/>
                      </a:lnTo>
                      <a:cubicBezTo>
                        <a:pt x="7818" y="157162"/>
                        <a:pt x="0" y="149344"/>
                        <a:pt x="0" y="139700"/>
                      </a:cubicBezTo>
                      <a:lnTo>
                        <a:pt x="0" y="17462"/>
                      </a:lnTo>
                      <a:cubicBezTo>
                        <a:pt x="0" y="7818"/>
                        <a:pt x="7818" y="0"/>
                        <a:pt x="17463" y="0"/>
                      </a:cubicBezTo>
                      <a:lnTo>
                        <a:pt x="78581" y="0"/>
                      </a:lnTo>
                      <a:lnTo>
                        <a:pt x="122237" y="43656"/>
                      </a:lnTo>
                      <a:lnTo>
                        <a:pt x="122237" y="139700"/>
                      </a:lnTo>
                      <a:cubicBezTo>
                        <a:pt x="122237" y="149344"/>
                        <a:pt x="114419" y="157162"/>
                        <a:pt x="104775" y="157162"/>
                      </a:cubicBez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878681" y="4285456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8731" y="0"/>
                      </a:moveTo>
                      <a:lnTo>
                        <a:pt x="0" y="17462"/>
                      </a:lnTo>
                      <a:lnTo>
                        <a:pt x="8731" y="34925"/>
                      </a:ln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922338" y="4285456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0" y="0"/>
                      </a:moveTo>
                      <a:lnTo>
                        <a:pt x="8731" y="17462"/>
                      </a:lnTo>
                      <a:lnTo>
                        <a:pt x="0" y="34925"/>
                      </a:ln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1089660" y="4204335"/>
                <a:ext cx="150906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1D1A"/>
                    </a:solidFill>
                    <a:latin typeface="Consolas"/>
                    <a:ea typeface="Microsoft YaHei"/>
                    <a:cs typeface="Consolas"/>
                  </a:rPr>
                  <a:t>test_patch.patch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2481262" y="4212431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评测测试</a:t>
                </a:r>
              </a:p>
            </p:txBody>
          </p:sp>
          <p:sp>
            <p:nvSpPr>
              <p:cNvPr id="56" name="Line 56"/>
              <p:cNvSpPr/>
              <p:nvPr/>
            </p:nvSpPr>
            <p:spPr>
              <a:xfrm>
                <a:off x="781050" y="4514850"/>
                <a:ext cx="3181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81350" h="9525">
                    <a:moveTo>
                      <a:pt x="0" y="0"/>
                    </a:moveTo>
                    <a:lnTo>
                      <a:pt x="3181350" y="0"/>
                    </a:lnTo>
                  </a:path>
                </a:pathLst>
              </a:custGeom>
              <a:noFill/>
              <a:ln w="9525">
                <a:solidFill>
                  <a:srgbClr val="EBEBEB"/>
                </a:solidFill>
              </a:ln>
            </p:spPr>
          </p:sp>
        </p:grpSp>
        <p:grpSp>
          <p:nvGrpSpPr>
            <p:cNvPr id="65" name="Group 65"/>
            <p:cNvGrpSpPr/>
            <p:nvPr/>
          </p:nvGrpSpPr>
          <p:grpSpPr>
            <a:xfrm>
              <a:off x="843756" y="4731544"/>
              <a:ext cx="2413794" cy="250031"/>
              <a:chOff x="843756" y="4731544"/>
              <a:chExt cx="2413794" cy="250031"/>
            </a:xfrm>
          </p:grpSpPr>
          <p:grpSp>
            <p:nvGrpSpPr>
              <p:cNvPr id="62" name="Group 62"/>
              <p:cNvGrpSpPr/>
              <p:nvPr/>
            </p:nvGrpSpPr>
            <p:grpSpPr>
              <a:xfrm>
                <a:off x="843756" y="4731544"/>
                <a:ext cx="122238" cy="157162"/>
                <a:chOff x="843756" y="4731544"/>
                <a:chExt cx="122238" cy="157162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922338" y="4731544"/>
                  <a:ext cx="43656" cy="43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56" h="43656">
                      <a:moveTo>
                        <a:pt x="0" y="0"/>
                      </a:moveTo>
                      <a:lnTo>
                        <a:pt x="0" y="34925"/>
                      </a:lnTo>
                      <a:cubicBezTo>
                        <a:pt x="0" y="39747"/>
                        <a:pt x="3909" y="43656"/>
                        <a:pt x="8731" y="43656"/>
                      </a:cubicBezTo>
                      <a:lnTo>
                        <a:pt x="43656" y="43656"/>
                      </a:ln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843756" y="4731544"/>
                  <a:ext cx="122237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57162">
                      <a:moveTo>
                        <a:pt x="104775" y="157162"/>
                      </a:moveTo>
                      <a:lnTo>
                        <a:pt x="17463" y="157162"/>
                      </a:lnTo>
                      <a:cubicBezTo>
                        <a:pt x="7818" y="157162"/>
                        <a:pt x="0" y="149344"/>
                        <a:pt x="0" y="139700"/>
                      </a:cubicBezTo>
                      <a:lnTo>
                        <a:pt x="0" y="17462"/>
                      </a:lnTo>
                      <a:cubicBezTo>
                        <a:pt x="0" y="7818"/>
                        <a:pt x="7818" y="0"/>
                        <a:pt x="17463" y="0"/>
                      </a:cubicBezTo>
                      <a:lnTo>
                        <a:pt x="78581" y="0"/>
                      </a:lnTo>
                      <a:lnTo>
                        <a:pt x="122237" y="43656"/>
                      </a:lnTo>
                      <a:lnTo>
                        <a:pt x="122237" y="139700"/>
                      </a:lnTo>
                      <a:cubicBezTo>
                        <a:pt x="122237" y="149344"/>
                        <a:pt x="114419" y="157162"/>
                        <a:pt x="104775" y="157162"/>
                      </a:cubicBez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878681" y="4818856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8731" y="0"/>
                      </a:moveTo>
                      <a:lnTo>
                        <a:pt x="0" y="17462"/>
                      </a:lnTo>
                      <a:lnTo>
                        <a:pt x="8731" y="34925"/>
                      </a:ln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922338" y="4818856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0" y="0"/>
                      </a:moveTo>
                      <a:lnTo>
                        <a:pt x="8731" y="17462"/>
                      </a:lnTo>
                      <a:lnTo>
                        <a:pt x="0" y="34925"/>
                      </a:lnTo>
                    </a:path>
                  </a:pathLst>
                </a:custGeom>
                <a:noFill/>
                <a:ln w="19050">
                  <a:solidFill>
                    <a:srgbClr val="C7000A"/>
                  </a:solidFill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1089660" y="4737735"/>
                <a:ext cx="122342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1D1A"/>
                    </a:solidFill>
                    <a:latin typeface="Consolas"/>
                    <a:ea typeface="Microsoft YaHei"/>
                    <a:cs typeface="Consolas"/>
                  </a:rPr>
                  <a:t>metadata.json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2328862" y="4745831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测试分组定义</a:t>
                </a:r>
              </a:p>
            </p:txBody>
          </p:sp>
        </p:grpSp>
      </p:grpSp>
      <p:grpSp>
        <p:nvGrpSpPr>
          <p:cNvPr id="98" name="Group 98"/>
          <p:cNvGrpSpPr/>
          <p:nvPr/>
        </p:nvGrpSpPr>
        <p:grpSpPr>
          <a:xfrm>
            <a:off x="4587240" y="1291590"/>
            <a:ext cx="6976110" cy="3699510"/>
            <a:chOff x="4587240" y="1291590"/>
            <a:chExt cx="6976110" cy="3699510"/>
          </a:xfrm>
        </p:grpSpPr>
        <p:sp>
          <p:nvSpPr>
            <p:cNvPr id="67" name="TextBox 67"/>
            <p:cNvSpPr txBox="1"/>
            <p:nvPr/>
          </p:nvSpPr>
          <p:spPr>
            <a:xfrm>
              <a:off x="4587240" y="12915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32323"/>
                  </a:solidFill>
                  <a:latin typeface="Arial"/>
                  <a:ea typeface="Microsoft YaHei"/>
                  <a:cs typeface="Arial"/>
                </a:rPr>
                <a:t>断点目标矩阵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595812" y="1612106"/>
              <a:ext cx="34415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Agent 要把固定 2 列 Grid 改成断点驱动的重复布局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4610100" y="1943100"/>
              <a:ext cx="6953250" cy="3048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4288">
              <a:solidFill>
                <a:srgbClr val="EBEBEB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4610100" y="1943100"/>
              <a:ext cx="6953250" cy="476250"/>
            </a:xfrm>
            <a:prstGeom prst="roundRect">
              <a:avLst>
                <a:gd name="adj" fmla="val 16000"/>
              </a:avLst>
            </a:prstGeom>
            <a:solidFill>
              <a:srgbClr val="232323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110162" y="2116931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断点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786562" y="2116931"/>
              <a:ext cx="6980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Grid 列数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539162" y="2116931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间距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082212" y="21169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图片尺寸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6191250" y="24193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4288">
              <a:solidFill>
                <a:srgbClr val="EBEBEB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8001000" y="24193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4288">
              <a:solidFill>
                <a:srgbClr val="EBEBEB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9601200" y="24193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4288">
              <a:solidFill>
                <a:srgbClr val="EBEBEB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4610100" y="2419350"/>
              <a:ext cx="6953250" cy="857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4800600" y="2657475"/>
              <a:ext cx="647700" cy="342900"/>
            </a:xfrm>
            <a:prstGeom prst="roundRect">
              <a:avLst>
                <a:gd name="adj" fmla="val 50000"/>
              </a:avLst>
            </a:prstGeom>
            <a:solidFill>
              <a:srgbClr val="F7F7F7"/>
            </a:solidFill>
            <a:ln w="9525">
              <a:solidFill>
                <a:srgbClr val="B5B5B5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992218" y="2748439"/>
              <a:ext cx="2644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232323"/>
                  </a:solidFill>
                  <a:latin typeface="Consolas"/>
                  <a:ea typeface="Microsoft YaHei"/>
                  <a:cs typeface="Consolas"/>
                </a:rPr>
                <a:t>SM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806996" y="2687955"/>
              <a:ext cx="59730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2 列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570314" y="2720340"/>
              <a:ext cx="4615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D1D1A"/>
                  </a:solidFill>
                  <a:latin typeface="Consolas"/>
                  <a:ea typeface="Microsoft YaHei"/>
                  <a:cs typeface="Consolas"/>
                </a:rPr>
                <a:t>8vp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234555" y="2720340"/>
              <a:ext cx="6001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D1D1A"/>
                  </a:solidFill>
                  <a:latin typeface="Consolas"/>
                  <a:ea typeface="Microsoft YaHei"/>
                  <a:cs typeface="Consolas"/>
                </a:rPr>
                <a:t>58vp</a:t>
              </a:r>
            </a:p>
          </p:txBody>
        </p:sp>
        <p:sp>
          <p:nvSpPr>
            <p:cNvPr id="84" name="Line 84"/>
            <p:cNvSpPr/>
            <p:nvPr/>
          </p:nvSpPr>
          <p:spPr>
            <a:xfrm>
              <a:off x="4610100" y="3276600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14288">
              <a:solidFill>
                <a:srgbClr val="EBEBEB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4610100" y="3276600"/>
              <a:ext cx="6953250" cy="857250"/>
            </a:xfrm>
            <a:prstGeom prst="rect">
              <a:avLst/>
            </a:prstGeom>
            <a:solidFill>
              <a:srgbClr val="FFF7F4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4800600" y="3514725"/>
              <a:ext cx="647700" cy="342900"/>
            </a:xfrm>
            <a:prstGeom prst="roundRect">
              <a:avLst>
                <a:gd name="adj" fmla="val 50000"/>
              </a:avLst>
            </a:prstGeom>
            <a:solidFill>
              <a:srgbClr val="F26B43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4992218" y="3605689"/>
              <a:ext cx="2644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MD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806996" y="3545205"/>
              <a:ext cx="59730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C7000A"/>
                  </a:solidFill>
                  <a:latin typeface="Arial"/>
                  <a:ea typeface="Microsoft YaHei"/>
                  <a:cs typeface="Arial"/>
                </a:rPr>
                <a:t>3 列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501005" y="3577590"/>
              <a:ext cx="6001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C7000A"/>
                  </a:solidFill>
                  <a:latin typeface="Consolas"/>
                  <a:ea typeface="Microsoft YaHei"/>
                  <a:cs typeface="Consolas"/>
                </a:rPr>
                <a:t>12vp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234555" y="3577590"/>
              <a:ext cx="6001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C7000A"/>
                  </a:solidFill>
                  <a:latin typeface="Consolas"/>
                  <a:ea typeface="Microsoft YaHei"/>
                  <a:cs typeface="Consolas"/>
                </a:rPr>
                <a:t>68vp</a:t>
              </a:r>
            </a:p>
          </p:txBody>
        </p:sp>
        <p:sp>
          <p:nvSpPr>
            <p:cNvPr id="91" name="Line 91"/>
            <p:cNvSpPr/>
            <p:nvPr/>
          </p:nvSpPr>
          <p:spPr>
            <a:xfrm>
              <a:off x="4610100" y="4133850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14288">
              <a:solidFill>
                <a:srgbClr val="EBEBEB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4610100" y="4133850"/>
              <a:ext cx="6953250" cy="857250"/>
            </a:xfrm>
            <a:prstGeom prst="rect">
              <a:avLst/>
            </a:prstGeom>
            <a:solidFill>
              <a:srgbClr val="FFF4F5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4800600" y="4371975"/>
              <a:ext cx="647700" cy="342900"/>
            </a:xfrm>
            <a:prstGeom prst="roundRect">
              <a:avLst>
                <a:gd name="adj" fmla="val 50000"/>
              </a:avLst>
            </a:prstGeom>
            <a:solidFill>
              <a:srgbClr val="E9002F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5010070" y="4462939"/>
              <a:ext cx="2287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LG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806996" y="4402455"/>
              <a:ext cx="59730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E9002F"/>
                  </a:solidFill>
                  <a:latin typeface="Arial"/>
                  <a:ea typeface="Microsoft YaHei"/>
                  <a:cs typeface="Arial"/>
                </a:rPr>
                <a:t>5 列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501005" y="4434840"/>
              <a:ext cx="6001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9002F"/>
                  </a:solidFill>
                  <a:latin typeface="Consolas"/>
                  <a:ea typeface="Microsoft YaHei"/>
                  <a:cs typeface="Consolas"/>
                </a:rPr>
                <a:t>16vp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234555" y="4434840"/>
              <a:ext cx="6001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9002F"/>
                  </a:solidFill>
                  <a:latin typeface="Consolas"/>
                  <a:ea typeface="Microsoft YaHei"/>
                  <a:cs typeface="Consolas"/>
                </a:rPr>
                <a:t>76vp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550545" y="5232082"/>
            <a:ext cx="11012805" cy="1054418"/>
            <a:chOff x="550545" y="5232082"/>
            <a:chExt cx="11012805" cy="1054418"/>
          </a:xfrm>
        </p:grpSpPr>
        <p:sp>
          <p:nvSpPr>
            <p:cNvPr id="99" name="TextBox 99"/>
            <p:cNvSpPr txBox="1"/>
            <p:nvPr/>
          </p:nvSpPr>
          <p:spPr>
            <a:xfrm>
              <a:off x="550545" y="5232082"/>
              <a:ext cx="40156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32323"/>
                  </a:solidFill>
                  <a:latin typeface="Arial"/>
                  <a:ea typeface="Microsoft YaHei"/>
                  <a:cs typeface="Arial"/>
                </a:rPr>
                <a:t>测试把“修复点”和“回归保护”分开定义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571500" y="5619750"/>
              <a:ext cx="5286375" cy="666750"/>
            </a:xfrm>
            <a:prstGeom prst="roundRect">
              <a:avLst>
                <a:gd name="adj" fmla="val 11429"/>
              </a:avLst>
            </a:prstGeom>
            <a:solidFill>
              <a:srgbClr val="FFF4F5"/>
            </a:solidFill>
            <a:ln w="14288">
              <a:solidFill>
                <a:srgbClr val="E9002F"/>
              </a:solidFill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819099" y="5846244"/>
              <a:ext cx="200119" cy="171928"/>
              <a:chOff x="819099" y="5846244"/>
              <a:chExt cx="200119" cy="171928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919162" y="5909072"/>
                <a:ext cx="95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687">
                    <a:moveTo>
                      <a:pt x="0" y="0"/>
                    </a:move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E9002F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19099" y="5846244"/>
                <a:ext cx="200119" cy="171928"/>
              </a:xfrm>
              <a:custGeom>
                <a:avLst/>
                <a:gdLst/>
                <a:ahLst/>
                <a:cxnLst/>
                <a:rect l="l" t="t" r="r" b="b"/>
                <a:pathLst>
                  <a:path w="200119" h="171928">
                    <a:moveTo>
                      <a:pt x="83821" y="9160"/>
                    </a:moveTo>
                    <a:lnTo>
                      <a:pt x="3394" y="143443"/>
                    </a:lnTo>
                    <a:cubicBezTo>
                      <a:pt x="21" y="149285"/>
                      <a:pt x="0" y="156479"/>
                      <a:pt x="3340" y="162341"/>
                    </a:cubicBezTo>
                    <a:cubicBezTo>
                      <a:pt x="6681" y="168203"/>
                      <a:pt x="12880" y="171853"/>
                      <a:pt x="19627" y="171928"/>
                    </a:cubicBezTo>
                    <a:lnTo>
                      <a:pt x="180500" y="171928"/>
                    </a:lnTo>
                    <a:cubicBezTo>
                      <a:pt x="187243" y="171851"/>
                      <a:pt x="193439" y="168203"/>
                      <a:pt x="196779" y="162344"/>
                    </a:cubicBezTo>
                    <a:cubicBezTo>
                      <a:pt x="200119" y="156485"/>
                      <a:pt x="200101" y="149295"/>
                      <a:pt x="196732" y="143453"/>
                    </a:cubicBezTo>
                    <a:lnTo>
                      <a:pt x="116305" y="9150"/>
                    </a:lnTo>
                    <a:cubicBezTo>
                      <a:pt x="112864" y="3470"/>
                      <a:pt x="106705" y="0"/>
                      <a:pt x="100063" y="0"/>
                    </a:cubicBezTo>
                    <a:cubicBezTo>
                      <a:pt x="93422" y="0"/>
                      <a:pt x="87263" y="3470"/>
                      <a:pt x="83821" y="9150"/>
                    </a:cubicBezTo>
                  </a:path>
                </a:pathLst>
              </a:custGeom>
              <a:noFill/>
              <a:ln w="19050">
                <a:solidFill>
                  <a:srgbClr val="E9002F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919162" y="59785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9" y="0"/>
                    </a:lnTo>
                  </a:path>
                </a:pathLst>
              </a:custGeom>
              <a:noFill/>
              <a:ln w="19050">
                <a:solidFill>
                  <a:srgbClr val="E9002F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1145858" y="5767864"/>
              <a:ext cx="112137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9002F"/>
                  </a:solidFill>
                  <a:latin typeface="Consolas"/>
                  <a:ea typeface="Microsoft YaHei"/>
                  <a:cs typeface="Consolas"/>
                </a:rPr>
                <a:t>fail_to_pass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47762" y="6022181"/>
              <a:ext cx="35165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MD/LG 下列数、间距、图片尺寸必须从失败变为通过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6191250" y="5619750"/>
              <a:ext cx="5372100" cy="666750"/>
            </a:xfrm>
            <a:prstGeom prst="roundRect">
              <a:avLst>
                <a:gd name="adj" fmla="val 11429"/>
              </a:avLst>
            </a:prstGeom>
            <a:solidFill>
              <a:srgbClr val="F4FBF5"/>
            </a:solidFill>
            <a:ln w="14288">
              <a:solidFill>
                <a:srgbClr val="2E7D32"/>
              </a:solidFill>
            </a:ln>
          </p:spPr>
        </p:sp>
        <p:sp>
          <p:nvSpPr>
            <p:cNvPr id="108" name="Freeform 108"/>
            <p:cNvSpPr/>
            <p:nvPr/>
          </p:nvSpPr>
          <p:spPr>
            <a:xfrm>
              <a:off x="6469459" y="5889228"/>
              <a:ext cx="148828" cy="99219"/>
            </a:xfrm>
            <a:custGeom>
              <a:avLst/>
              <a:gdLst/>
              <a:ahLst/>
              <a:cxnLst/>
              <a:rect l="l" t="t" r="r" b="b"/>
              <a:pathLst>
                <a:path w="148828" h="99219">
                  <a:moveTo>
                    <a:pt x="0" y="49609"/>
                  </a:moveTo>
                  <a:lnTo>
                    <a:pt x="49609" y="99219"/>
                  </a:lnTo>
                  <a:lnTo>
                    <a:pt x="148828" y="0"/>
                  </a:lnTo>
                </a:path>
              </a:pathLst>
            </a:custGeom>
            <a:noFill/>
            <a:ln w="19050">
              <a:solidFill>
                <a:srgbClr val="2E7D32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765608" y="5767864"/>
              <a:ext cx="12106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pass_to_pass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767512" y="6022181"/>
              <a:ext cx="40190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页面启动、内容展示、SM 原行为、无横向溢出必须保持成功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559118" y="6505099"/>
            <a:ext cx="11016614" cy="198120"/>
            <a:chOff x="559118" y="6505099"/>
            <a:chExt cx="11016614" cy="198120"/>
          </a:xfrm>
        </p:grpSpPr>
        <p:sp>
          <p:nvSpPr>
            <p:cNvPr id="112" name="TextBox 112"/>
            <p:cNvSpPr txBox="1"/>
            <p:nvPr/>
          </p:nvSpPr>
          <p:spPr>
            <a:xfrm>
              <a:off x="559118" y="6505099"/>
              <a:ext cx="5030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98989"/>
                  </a:solidFill>
                  <a:latin typeface="Consolas"/>
                  <a:ea typeface="Microsoft YaHei"/>
                  <a:cs typeface="Consolas"/>
                </a:rPr>
                <a:t>Source: README.md / metadata.json / golden_patch.patch / test_patch.patch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115413" y="65050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98989"/>
                  </a:solidFill>
                  <a:latin typeface="Consolas"/>
                  <a:ea typeface="Microsoft YaHei"/>
                  <a:cs typeface="Consolas"/>
                </a:rPr>
                <a:t>01 / 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98" grpId="0"/>
      <p:bldP spid="1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1049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85725" cy="6858000"/>
            </a:xfrm>
            <a:prstGeom prst="rect">
              <a:avLst/>
            </a:prstGeom>
            <a:solidFill>
              <a:srgbClr val="C7000A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14350" y="359092"/>
            <a:ext cx="6669545" cy="691039"/>
            <a:chOff x="514350" y="359092"/>
            <a:chExt cx="6669545" cy="691039"/>
          </a:xfrm>
        </p:grpSpPr>
        <p:sp>
          <p:nvSpPr>
            <p:cNvPr id="6" name="Rectangle 6"/>
            <p:cNvSpPr/>
            <p:nvPr/>
          </p:nvSpPr>
          <p:spPr>
            <a:xfrm>
              <a:off x="514350" y="400050"/>
              <a:ext cx="76200" cy="419100"/>
            </a:xfrm>
            <a:prstGeom prst="roundRect">
              <a:avLst>
                <a:gd name="adj" fmla="val 50000"/>
              </a:avLst>
            </a:prstGeom>
            <a:solidFill>
              <a:srgbClr val="C7000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06755" y="359092"/>
              <a:ext cx="6477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评测闭环：题目可信，Agent 真修好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821531"/>
              <a:ext cx="24363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同一套 task / patch / test 组合，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00362" y="821531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在不同阶段验证题目、基线、产物和实现方式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257300"/>
            <a:ext cx="10991850" cy="592931"/>
            <a:chOff x="571500" y="1257300"/>
            <a:chExt cx="10991850" cy="592931"/>
          </a:xfrm>
        </p:grpSpPr>
        <p:sp>
          <p:nvSpPr>
            <p:cNvPr id="11" name="Rectangle 11"/>
            <p:cNvSpPr/>
            <p:nvPr/>
          </p:nvSpPr>
          <p:spPr>
            <a:xfrm>
              <a:off x="571500" y="1257300"/>
              <a:ext cx="10991850" cy="514350"/>
            </a:xfrm>
            <a:prstGeom prst="roundRect">
              <a:avLst>
                <a:gd name="adj" fmla="val 14815"/>
              </a:avLst>
            </a:prstGeom>
            <a:solidFill>
              <a:srgbClr val="FFF4F5"/>
            </a:solidFill>
            <a:ln w="11430">
              <a:solidFill>
                <a:srgbClr val="E9002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9148" y="1411129"/>
              <a:ext cx="114264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C7000A"/>
                  </a:solidFill>
                  <a:latin typeface="Arial"/>
                  <a:ea typeface="Microsoft YaHei"/>
                  <a:cs typeface="Arial"/>
                </a:rPr>
                <a:t>核心判断：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29752" y="1313021"/>
              <a:ext cx="542336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先证明题目和测试自身可靠，再验证 Agent 修改是否通过测试，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29752" y="1560671"/>
              <a:ext cx="25065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最后审查实现是否符合预期。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71500" y="2133600"/>
            <a:ext cx="10991850" cy="2667000"/>
            <a:chOff x="571500" y="2133600"/>
            <a:chExt cx="10991850" cy="2667000"/>
          </a:xfrm>
        </p:grpSpPr>
        <p:sp>
          <p:nvSpPr>
            <p:cNvPr id="16" name="Line 16"/>
            <p:cNvSpPr/>
            <p:nvPr/>
          </p:nvSpPr>
          <p:spPr>
            <a:xfrm>
              <a:off x="1752600" y="3333750"/>
              <a:ext cx="8686800" cy="1"/>
            </a:xfrm>
            <a:prstGeom prst="line">
              <a:avLst/>
            </a:prstGeom>
            <a:noFill/>
            <a:ln w="38100">
              <a:solidFill>
                <a:srgbClr val="C7000A"/>
              </a:solidFill>
              <a:tailEnd type="triangle" w="lg" len="lg"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571500" y="2133600"/>
              <a:ext cx="1981200" cy="2667000"/>
              <a:chOff x="571500" y="2133600"/>
              <a:chExt cx="1981200" cy="2667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71500" y="2133600"/>
                <a:ext cx="1981200" cy="2667000"/>
              </a:xfrm>
              <a:prstGeom prst="roundRect">
                <a:avLst>
                  <a:gd name="adj" fmla="val 3846"/>
                </a:avLst>
              </a:prstGeom>
              <a:solidFill>
                <a:srgbClr val="FFFFFF"/>
              </a:solidFill>
              <a:ln w="13335">
                <a:solidFill>
                  <a:srgbClr val="EBEBEB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571500" y="2133600"/>
                <a:ext cx="19812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C7000A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4858" y="2300764"/>
                <a:ext cx="22876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44905" y="2292668"/>
                <a:ext cx="104556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验证 Golden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85812" y="2831306"/>
                <a:ext cx="35861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32323"/>
                    </a:solidFill>
                    <a:latin typeface="Consolas"/>
                    <a:ea typeface="Microsoft YaHei"/>
                    <a:cs typeface="Consolas"/>
                  </a:rPr>
                  <a:t>task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5812" y="3059906"/>
                <a:ext cx="11087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32323"/>
                    </a:solidFill>
                    <a:latin typeface="Consolas"/>
                    <a:ea typeface="Microsoft YaHei"/>
                    <a:cs typeface="Consolas"/>
                  </a:rPr>
                  <a:t>+ golden_patch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85812" y="3288506"/>
                <a:ext cx="9811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32323"/>
                    </a:solidFill>
                    <a:latin typeface="Consolas"/>
                    <a:ea typeface="Microsoft YaHei"/>
                    <a:cs typeface="Consolas"/>
                  </a:rPr>
                  <a:t>+ test_patch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800100" y="3657600"/>
                <a:ext cx="152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9525">
                    <a:moveTo>
                      <a:pt x="0" y="0"/>
                    </a:moveTo>
                    <a:lnTo>
                      <a:pt x="1524000" y="0"/>
                    </a:lnTo>
                  </a:path>
                </a:pathLst>
              </a:custGeom>
              <a:noFill/>
              <a:ln w="9525">
                <a:solidFill>
                  <a:srgbClr val="EBEBE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43756" y="3947319"/>
                <a:ext cx="130969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87312">
                    <a:moveTo>
                      <a:pt x="0" y="43656"/>
                    </a:moveTo>
                    <a:lnTo>
                      <a:pt x="43656" y="87312"/>
                    </a:lnTo>
                    <a:lnTo>
                      <a:pt x="130969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90612" y="3926681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全部单测通过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86765" y="4287202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证明参考答案与测试集匹配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2857500" y="2133600"/>
              <a:ext cx="1981200" cy="2667000"/>
              <a:chOff x="2857500" y="2133600"/>
              <a:chExt cx="1981200" cy="26670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2857500" y="2133600"/>
                <a:ext cx="1981200" cy="2667000"/>
              </a:xfrm>
              <a:prstGeom prst="roundRect">
                <a:avLst>
                  <a:gd name="adj" fmla="val 3846"/>
                </a:avLst>
              </a:prstGeom>
              <a:solidFill>
                <a:srgbClr val="FFFFFF"/>
              </a:solidFill>
              <a:ln w="13335">
                <a:solidFill>
                  <a:srgbClr val="EBEBEB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2857500" y="2133600"/>
                <a:ext cx="19812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26B43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3050858" y="2300764"/>
                <a:ext cx="22876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430905" y="2292668"/>
                <a:ext cx="120623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验证 Baseline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071812" y="2831306"/>
                <a:ext cx="35861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32323"/>
                    </a:solidFill>
                    <a:latin typeface="Consolas"/>
                    <a:ea typeface="Microsoft YaHei"/>
                    <a:cs typeface="Consolas"/>
                  </a:rPr>
                  <a:t>task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071812" y="3059906"/>
                <a:ext cx="9811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32323"/>
                    </a:solidFill>
                    <a:latin typeface="Consolas"/>
                    <a:ea typeface="Microsoft YaHei"/>
                    <a:cs typeface="Consolas"/>
                  </a:rPr>
                  <a:t>+ test_patch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3086100" y="3657600"/>
                <a:ext cx="152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9525">
                    <a:moveTo>
                      <a:pt x="0" y="0"/>
                    </a:moveTo>
                    <a:lnTo>
                      <a:pt x="1524000" y="0"/>
                    </a:lnTo>
                  </a:path>
                </a:pathLst>
              </a:custGeom>
              <a:noFill/>
              <a:ln w="9525">
                <a:solidFill>
                  <a:srgbClr val="EBEBEB"/>
                </a:solidFill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3102819" y="3909493"/>
                <a:ext cx="176105" cy="151297"/>
                <a:chOff x="3102819" y="3909493"/>
                <a:chExt cx="176105" cy="151297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3190875" y="3964781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0" y="0"/>
                      </a:moveTo>
                      <a:lnTo>
                        <a:pt x="0" y="34925"/>
                      </a:lnTo>
                    </a:path>
                  </a:pathLst>
                </a:custGeom>
                <a:noFill/>
                <a:ln w="19050">
                  <a:solidFill>
                    <a:srgbClr val="E9002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3102819" y="3909493"/>
                  <a:ext cx="176105" cy="151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05" h="151297">
                      <a:moveTo>
                        <a:pt x="73763" y="8061"/>
                      </a:moveTo>
                      <a:lnTo>
                        <a:pt x="2987" y="126230"/>
                      </a:lnTo>
                      <a:cubicBezTo>
                        <a:pt x="18" y="131371"/>
                        <a:pt x="0" y="137702"/>
                        <a:pt x="2939" y="142860"/>
                      </a:cubicBezTo>
                      <a:cubicBezTo>
                        <a:pt x="5879" y="148019"/>
                        <a:pt x="11335" y="151230"/>
                        <a:pt x="17271" y="151297"/>
                      </a:cubicBezTo>
                      <a:lnTo>
                        <a:pt x="158840" y="151297"/>
                      </a:lnTo>
                      <a:cubicBezTo>
                        <a:pt x="164774" y="151229"/>
                        <a:pt x="170227" y="148018"/>
                        <a:pt x="173166" y="142863"/>
                      </a:cubicBezTo>
                      <a:cubicBezTo>
                        <a:pt x="176105" y="137707"/>
                        <a:pt x="176089" y="131379"/>
                        <a:pt x="173124" y="126238"/>
                      </a:cubicBezTo>
                      <a:lnTo>
                        <a:pt x="102349" y="8052"/>
                      </a:lnTo>
                      <a:cubicBezTo>
                        <a:pt x="99320" y="3053"/>
                        <a:pt x="93900" y="0"/>
                        <a:pt x="88056" y="0"/>
                      </a:cubicBezTo>
                      <a:cubicBezTo>
                        <a:pt x="82211" y="0"/>
                        <a:pt x="76791" y="3053"/>
                        <a:pt x="73763" y="8052"/>
                      </a:cubicBezTo>
                    </a:path>
                  </a:pathLst>
                </a:custGeom>
                <a:noFill/>
                <a:ln w="19050">
                  <a:solidFill>
                    <a:srgbClr val="E9002F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3190875" y="4025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87" y="0"/>
                      </a:lnTo>
                    </a:path>
                  </a:pathLst>
                </a:custGeom>
                <a:noFill/>
                <a:ln w="19050">
                  <a:solidFill>
                    <a:srgbClr val="E9002F"/>
                  </a:solidFill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3376612" y="3926681"/>
                <a:ext cx="98944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9002F"/>
                    </a:solidFill>
                    <a:latin typeface="Consolas"/>
                    <a:ea typeface="Microsoft YaHei"/>
                    <a:cs typeface="Consolas"/>
                  </a:rPr>
                  <a:t>fail_to_pass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072765" y="42872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应失败并暴露待修复问题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072765" y="4515802"/>
                <a:ext cx="127282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E7D32"/>
                    </a:solidFill>
                    <a:latin typeface="Consolas"/>
                    <a:ea typeface="Microsoft YaHei"/>
                    <a:cs typeface="Consolas"/>
                  </a:rPr>
                  <a:t>pass_to_pass 成功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5143500" y="2133600"/>
              <a:ext cx="1981200" cy="2667000"/>
              <a:chOff x="5143500" y="2133600"/>
              <a:chExt cx="1981200" cy="26670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5143500" y="2133600"/>
                <a:ext cx="1981200" cy="2667000"/>
              </a:xfrm>
              <a:prstGeom prst="roundRect">
                <a:avLst>
                  <a:gd name="adj" fmla="val 3846"/>
                </a:avLst>
              </a:prstGeom>
              <a:solidFill>
                <a:srgbClr val="FFFFFF"/>
              </a:solidFill>
              <a:ln w="13335">
                <a:solidFill>
                  <a:srgbClr val="EBEBEB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5143500" y="2133600"/>
                <a:ext cx="19812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232323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5336858" y="2300764"/>
                <a:ext cx="22876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716905" y="2292668"/>
                <a:ext cx="98885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Agent 执行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357812" y="2831306"/>
                <a:ext cx="7786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基础工程：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357812" y="3078956"/>
                <a:ext cx="4617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C7000A"/>
                    </a:solidFill>
                    <a:latin typeface="Consolas"/>
                    <a:ea typeface="Microsoft YaHei"/>
                    <a:cs typeface="Consolas"/>
                  </a:rPr>
                  <a:t>task/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357812" y="3479006"/>
                <a:ext cx="104870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输入 prompt：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357812" y="3726656"/>
                <a:ext cx="8713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C7000A"/>
                    </a:solidFill>
                    <a:latin typeface="Consolas"/>
                    <a:ea typeface="Microsoft YaHei"/>
                    <a:cs typeface="Consolas"/>
                  </a:rPr>
                  <a:t>README.md</a:t>
                </a:r>
              </a:p>
            </p:txBody>
          </p:sp>
          <p:sp>
            <p:nvSpPr>
              <p:cNvPr id="52" name="Line 52"/>
              <p:cNvSpPr/>
              <p:nvPr/>
            </p:nvSpPr>
            <p:spPr>
              <a:xfrm>
                <a:off x="5372100" y="4095750"/>
                <a:ext cx="152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9525">
                    <a:moveTo>
                      <a:pt x="0" y="0"/>
                    </a:moveTo>
                    <a:lnTo>
                      <a:pt x="1524000" y="0"/>
                    </a:lnTo>
                  </a:path>
                </a:pathLst>
              </a:custGeom>
              <a:noFill/>
              <a:ln w="9525">
                <a:solidFill>
                  <a:srgbClr val="EBEBEB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5358765" y="4287202"/>
                <a:ext cx="119581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输出 Agent 修改：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5357812" y="4507706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9002F"/>
                    </a:solidFill>
                    <a:latin typeface="Consolas"/>
                    <a:ea typeface="Microsoft YaHei"/>
                    <a:cs typeface="Consolas"/>
                  </a:rPr>
                  <a:t>implement_patch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7429500" y="2133600"/>
              <a:ext cx="1981200" cy="2667000"/>
              <a:chOff x="7429500" y="2133600"/>
              <a:chExt cx="1981200" cy="26670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7429500" y="2133600"/>
                <a:ext cx="1981200" cy="2667000"/>
              </a:xfrm>
              <a:prstGeom prst="roundRect">
                <a:avLst>
                  <a:gd name="adj" fmla="val 3846"/>
                </a:avLst>
              </a:prstGeom>
              <a:solidFill>
                <a:srgbClr val="FFFFFF"/>
              </a:solidFill>
              <a:ln w="13335">
                <a:solidFill>
                  <a:srgbClr val="EBEBEB"/>
                </a:solidFill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7429500" y="2133600"/>
                <a:ext cx="19812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C7000A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622858" y="2300764"/>
                <a:ext cx="22876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002905" y="22926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结果验证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643812" y="2831306"/>
                <a:ext cx="35861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32323"/>
                    </a:solidFill>
                    <a:latin typeface="Consolas"/>
                    <a:ea typeface="Microsoft YaHei"/>
                    <a:cs typeface="Consolas"/>
                  </a:rPr>
                  <a:t>task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643812" y="305990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32323"/>
                    </a:solidFill>
                    <a:latin typeface="Consolas"/>
                    <a:ea typeface="Microsoft YaHei"/>
                    <a:cs typeface="Consolas"/>
                  </a:rPr>
                  <a:t>+ implement_patch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643812" y="3288506"/>
                <a:ext cx="9811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32323"/>
                    </a:solidFill>
                    <a:latin typeface="Consolas"/>
                    <a:ea typeface="Microsoft YaHei"/>
                    <a:cs typeface="Consolas"/>
                  </a:rPr>
                  <a:t>+ test_patch</a:t>
                </a:r>
              </a:p>
            </p:txBody>
          </p:sp>
          <p:sp>
            <p:nvSpPr>
              <p:cNvPr id="63" name="Line 63"/>
              <p:cNvSpPr/>
              <p:nvPr/>
            </p:nvSpPr>
            <p:spPr>
              <a:xfrm>
                <a:off x="7658100" y="3657600"/>
                <a:ext cx="152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9525">
                    <a:moveTo>
                      <a:pt x="0" y="0"/>
                    </a:moveTo>
                    <a:lnTo>
                      <a:pt x="1524000" y="0"/>
                    </a:lnTo>
                  </a:path>
                </a:pathLst>
              </a:custGeom>
              <a:noFill/>
              <a:ln w="9525">
                <a:solidFill>
                  <a:srgbClr val="EBEBEB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701756" y="3947319"/>
                <a:ext cx="130969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87312">
                    <a:moveTo>
                      <a:pt x="0" y="43656"/>
                    </a:moveTo>
                    <a:lnTo>
                      <a:pt x="43656" y="87312"/>
                    </a:lnTo>
                    <a:lnTo>
                      <a:pt x="130969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948612" y="3926681"/>
                <a:ext cx="12887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同一测试集全通过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644765" y="4287202"/>
                <a:ext cx="161586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判断 Agent 是否完成修复</a:t>
                </a: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9715500" y="2133600"/>
              <a:ext cx="1847850" cy="2667000"/>
              <a:chOff x="9715500" y="2133600"/>
              <a:chExt cx="1847850" cy="26670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9715500" y="2133600"/>
                <a:ext cx="1847850" cy="2667000"/>
              </a:xfrm>
              <a:prstGeom prst="roundRect">
                <a:avLst>
                  <a:gd name="adj" fmla="val 4124"/>
                </a:avLst>
              </a:prstGeom>
              <a:solidFill>
                <a:srgbClr val="FFFFFF"/>
              </a:solidFill>
              <a:ln w="13335">
                <a:solidFill>
                  <a:srgbClr val="EBEBEB"/>
                </a:solidFill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9715500" y="2133600"/>
                <a:ext cx="184785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E9002F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9908858" y="2300764"/>
                <a:ext cx="22876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05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0288905" y="22926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实现审查</a:t>
                </a:r>
              </a:p>
            </p:txBody>
          </p:sp>
          <p:grpSp>
            <p:nvGrpSpPr>
              <p:cNvPr id="78" name="Group 78"/>
              <p:cNvGrpSpPr/>
              <p:nvPr/>
            </p:nvGrpSpPr>
            <p:grpSpPr>
              <a:xfrm>
                <a:off x="9985375" y="2907506"/>
                <a:ext cx="165100" cy="185737"/>
                <a:chOff x="9985375" y="2907506"/>
                <a:chExt cx="165100" cy="185737"/>
              </a:xfrm>
            </p:grpSpPr>
            <p:sp>
              <p:nvSpPr>
                <p:cNvPr id="72" name="Freeform 72"/>
                <p:cNvSpPr/>
                <p:nvPr/>
              </p:nvSpPr>
              <p:spPr>
                <a:xfrm>
                  <a:off x="9985375" y="2917825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8"/>
                      </a:moveTo>
                      <a:cubicBezTo>
                        <a:pt x="0" y="32035"/>
                        <a:pt x="9240" y="41275"/>
                        <a:pt x="20638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  <a:cubicBezTo>
                        <a:pt x="41275" y="9240"/>
                        <a:pt x="32035" y="0"/>
                        <a:pt x="20638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</a:path>
                  </a:pathLst>
                </a:custGeom>
                <a:noFill/>
                <a:ln w="19050">
                  <a:solidFill>
                    <a:srgbClr val="E9002F"/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10109200" y="3041650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8"/>
                      </a:moveTo>
                      <a:cubicBezTo>
                        <a:pt x="0" y="32035"/>
                        <a:pt x="9240" y="41275"/>
                        <a:pt x="20638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  <a:cubicBezTo>
                        <a:pt x="41275" y="9240"/>
                        <a:pt x="32035" y="0"/>
                        <a:pt x="20638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</a:path>
                  </a:pathLst>
                </a:custGeom>
                <a:noFill/>
                <a:ln w="19050">
                  <a:solidFill>
                    <a:srgbClr val="E9002F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10057606" y="2938462"/>
                  <a:ext cx="72231" cy="103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103187">
                      <a:moveTo>
                        <a:pt x="0" y="0"/>
                      </a:moveTo>
                      <a:lnTo>
                        <a:pt x="51594" y="0"/>
                      </a:lnTo>
                      <a:cubicBezTo>
                        <a:pt x="62992" y="0"/>
                        <a:pt x="72231" y="9240"/>
                        <a:pt x="72231" y="20638"/>
                      </a:cubicBezTo>
                      <a:lnTo>
                        <a:pt x="72231" y="103187"/>
                      </a:lnTo>
                    </a:path>
                  </a:pathLst>
                </a:custGeom>
                <a:noFill/>
                <a:ln w="19050">
                  <a:solidFill>
                    <a:srgbClr val="E9002F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10057606" y="2907506"/>
                  <a:ext cx="30956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61912">
                      <a:moveTo>
                        <a:pt x="30956" y="61912"/>
                      </a:moveTo>
                      <a:lnTo>
                        <a:pt x="0" y="30956"/>
                      </a:lnTo>
                      <a:lnTo>
                        <a:pt x="30956" y="0"/>
                      </a:lnTo>
                    </a:path>
                  </a:pathLst>
                </a:custGeom>
                <a:noFill/>
                <a:ln w="19050">
                  <a:solidFill>
                    <a:srgbClr val="E9002F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10006012" y="2959100"/>
                  <a:ext cx="72231" cy="103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103187">
                      <a:moveTo>
                        <a:pt x="72231" y="103187"/>
                      </a:moveTo>
                      <a:lnTo>
                        <a:pt x="20638" y="103187"/>
                      </a:lnTo>
                      <a:cubicBezTo>
                        <a:pt x="9240" y="103187"/>
                        <a:pt x="0" y="93948"/>
                        <a:pt x="0" y="8255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E9002F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10047288" y="3031331"/>
                  <a:ext cx="30956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61912">
                      <a:moveTo>
                        <a:pt x="0" y="0"/>
                      </a:moveTo>
                      <a:lnTo>
                        <a:pt x="30956" y="30956"/>
                      </a:lnTo>
                      <a:lnTo>
                        <a:pt x="0" y="61912"/>
                      </a:lnTo>
                    </a:path>
                  </a:pathLst>
                </a:custGeom>
                <a:noFill/>
                <a:ln w="19050">
                  <a:solidFill>
                    <a:srgbClr val="E9002F"/>
                  </a:solidFill>
                </a:ln>
              </p:spPr>
            </p:sp>
          </p:grpSp>
          <p:sp>
            <p:nvSpPr>
              <p:cNvPr id="79" name="TextBox 79"/>
              <p:cNvSpPr txBox="1"/>
              <p:nvPr/>
            </p:nvSpPr>
            <p:spPr>
              <a:xfrm>
                <a:off x="10272712" y="2936081"/>
                <a:ext cx="79254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32323"/>
                    </a:solidFill>
                    <a:latin typeface="Consolas"/>
                    <a:ea typeface="Microsoft YaHei"/>
                    <a:cs typeface="Consolas"/>
                  </a:rPr>
                  <a:t>implement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0272712" y="3164681"/>
                <a:ext cx="7295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32323"/>
                    </a:solidFill>
                    <a:latin typeface="Consolas"/>
                    <a:ea typeface="Microsoft YaHei"/>
                    <a:cs typeface="Consolas"/>
                  </a:rPr>
                  <a:t>vs golden</a:t>
                </a:r>
              </a:p>
            </p:txBody>
          </p:sp>
          <p:sp>
            <p:nvSpPr>
              <p:cNvPr id="81" name="Line 81"/>
              <p:cNvSpPr/>
              <p:nvPr/>
            </p:nvSpPr>
            <p:spPr>
              <a:xfrm>
                <a:off x="9944100" y="3524250"/>
                <a:ext cx="1390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90650" h="9525">
                    <a:moveTo>
                      <a:pt x="0" y="0"/>
                    </a:moveTo>
                    <a:lnTo>
                      <a:pt x="1390650" y="0"/>
                    </a:lnTo>
                  </a:path>
                </a:pathLst>
              </a:custGeom>
              <a:noFill/>
              <a:ln w="9525">
                <a:solidFill>
                  <a:srgbClr val="EBEBEB"/>
                </a:solidFill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9930765" y="371570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断点体系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930765" y="3963352"/>
                <a:ext cx="9017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Grid 属性驱动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9930765" y="421100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原功能保持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9930765" y="44586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D1D1A"/>
                    </a:solidFill>
                    <a:latin typeface="Arial"/>
                    <a:ea typeface="Microsoft YaHei"/>
                    <a:cs typeface="Arial"/>
                  </a:rPr>
                  <a:t>无绕过测试</a:t>
                </a:r>
              </a:p>
            </p:txBody>
          </p:sp>
        </p:grpSp>
      </p:grpSp>
      <p:grpSp>
        <p:nvGrpSpPr>
          <p:cNvPr id="96" name="Group 96"/>
          <p:cNvGrpSpPr/>
          <p:nvPr/>
        </p:nvGrpSpPr>
        <p:grpSpPr>
          <a:xfrm>
            <a:off x="571500" y="5200650"/>
            <a:ext cx="10991850" cy="952500"/>
            <a:chOff x="571500" y="5200650"/>
            <a:chExt cx="10991850" cy="952500"/>
          </a:xfrm>
        </p:grpSpPr>
        <p:sp>
          <p:nvSpPr>
            <p:cNvPr id="88" name="Rectangle 88"/>
            <p:cNvSpPr/>
            <p:nvPr/>
          </p:nvSpPr>
          <p:spPr>
            <a:xfrm>
              <a:off x="571500" y="5200650"/>
              <a:ext cx="10991850" cy="952500"/>
            </a:xfrm>
            <a:prstGeom prst="roundRect">
              <a:avLst>
                <a:gd name="adj" fmla="val 8000"/>
              </a:avLst>
            </a:prstGeom>
            <a:solidFill>
              <a:srgbClr val="F7F7F7"/>
            </a:solidFill>
            <a:ln w="12382">
              <a:solidFill>
                <a:srgbClr val="EBEBEB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02005" y="5388292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32323"/>
                  </a:solidFill>
                  <a:latin typeface="Arial"/>
                  <a:ea typeface="Microsoft YaHei"/>
                  <a:cs typeface="Arial"/>
                </a:rPr>
                <a:t>闭环的两个判定标准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933450" y="5791200"/>
              <a:ext cx="114300" cy="114300"/>
            </a:xfrm>
            <a:prstGeom prst="ellipse">
              <a:avLst/>
            </a:prstGeom>
            <a:solidFill>
              <a:srgbClr val="C7000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147762" y="5669756"/>
              <a:ext cx="47991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测试判定：同一 test_patch 下，Golden 与 Agent 产物都应全部通过，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47762" y="5879306"/>
              <a:ext cx="22188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Baseline 应暴露 fail_to_pass。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6553200" y="5791200"/>
              <a:ext cx="114300" cy="114300"/>
            </a:xfrm>
            <a:prstGeom prst="ellipse">
              <a:avLst/>
            </a:prstGeom>
            <a:solidFill>
              <a:srgbClr val="E9002F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767512" y="5669756"/>
              <a:ext cx="41915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实现判定：不仅看测试绿灯，也看 implement_patch 是否采用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767512" y="5879306"/>
              <a:ext cx="20613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1D1A"/>
                  </a:solidFill>
                  <a:latin typeface="Arial"/>
                  <a:ea typeface="Microsoft YaHei"/>
                  <a:cs typeface="Arial"/>
                </a:rPr>
                <a:t>符合预期的响应式 Grid 实现。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559118" y="6505099"/>
            <a:ext cx="11016614" cy="198120"/>
            <a:chOff x="559118" y="6505099"/>
            <a:chExt cx="11016614" cy="198120"/>
          </a:xfrm>
        </p:grpSpPr>
        <p:sp>
          <p:nvSpPr>
            <p:cNvPr id="97" name="TextBox 97"/>
            <p:cNvSpPr txBox="1"/>
            <p:nvPr/>
          </p:nvSpPr>
          <p:spPr>
            <a:xfrm>
              <a:off x="559118" y="6505099"/>
              <a:ext cx="36457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98989"/>
                  </a:solidFill>
                  <a:latin typeface="Consolas"/>
                  <a:ea typeface="Microsoft YaHei"/>
                  <a:cs typeface="Consolas"/>
                </a:rPr>
                <a:t>Pipeline: golden → baseline → agent patch → tests → review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115413" y="65050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98989"/>
                  </a:solidFill>
                  <a:latin typeface="Consolas"/>
                  <a:ea typeface="Microsoft YaHei"/>
                  <a:cs typeface="Consolas"/>
                </a:rPr>
                <a:t>02 / 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7" grpId="0"/>
      <p:bldP spid="9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2026-07-06T02:41:06Z</dcterms:created>
  <dcterms:modified xsi:type="dcterms:W3CDTF">2026-07-06T02:41:06Z</dcterms:modified>
  <cp:category/>
  <cp:contentStatus/>
</cp:coreProperties>
</file>